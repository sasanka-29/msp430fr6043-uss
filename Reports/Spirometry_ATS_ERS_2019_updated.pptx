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sanka Barman" initials="SB" lastIdx="1" clrIdx="0">
    <p:extLst>
      <p:ext uri="{19B8F6BF-5375-455C-9EA6-DF929625EA0E}">
        <p15:presenceInfo xmlns:p15="http://schemas.microsoft.com/office/powerpoint/2012/main" userId="08b769e5355105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81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of Spirometry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ATS/ERS 2019 Update — Key Technical Standards &amp; Clinical Implications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50292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606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Sasanka Barman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Spirometer / Ultrasonic Flow Measurement System — MSP430FR6043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ATS/ERS Technical Statement  •  Am J Respir Crit Care Med 200:e70–e88 (2019)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&amp;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5727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Equipment &amp; QA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204825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FVC/FEV₁ Maneuver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5237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Acceptability Criteria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9992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Key Parameters Reported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34747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Grading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" y="39502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Bronchodilator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" y="44256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Device Design Implications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457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54864" cy="3200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00584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Spirometry is the most common pulmonary function test.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reproducible measurements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critical for diagnosis, monitoring, and device development.
The 2019 ATS/ERS update revised every major criterion </a:t>
            </a: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maneuver acceptability to equipment accuracy to grading systems —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impacting both clinical labs and embedded firmware developers.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ATS/ERS Update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12064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Studies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1,760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04088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Surveyed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itleMM"/>
          <p:cNvSpPr>
            <a:spLocks noGrp="1"/>
          </p:cNvSpPr>
          <p:nvPr/>
        </p:nvSpPr>
        <p:spPr>
          <a:xfrm>
            <a:off x="300000" y="73152"/>
            <a:ext cx="8544000" cy="32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00C2CB"/>
                </a:solidFill>
                <a:latin typeface="Calibri" pitchFamily="34" charset="0"/>
              </a:rPr>
              <a:t>Standardization of Spirometry — Overview Mind Map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07443D-777C-2D55-7E85-9703CD215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466304"/>
            <a:ext cx="6146800" cy="45308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Spirometry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physiological test measuring the maximal volume of air an individual can inspire and expire with maximal effort. The primary signal is either </a:t>
            </a: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or flow as a function of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Variables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697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Vital Capacity — volume expelled from full inspiration with maximal effort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27248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27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3127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Expiratory Volume in 1 second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570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FEV₁/FVC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5570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indicating airflow obstruction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867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Expiratory Flow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416552"/>
            <a:ext cx="8229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165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FEF₂₅₋₇₅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4416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flow in mid-expiratory phase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Scope</a:t>
            </a:r>
            <a:endParaRPr lang="en-US" sz="15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15768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20640" y="2715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&amp; terminology</a:t>
            </a:r>
            <a:endParaRPr lang="en-US" sz="11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11810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2064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specifications (ISO 26782)</a:t>
            </a:r>
            <a:endParaRPr lang="en-US" sz="11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520440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2064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preparation &amp; contraindications</a:t>
            </a:r>
            <a:endParaRPr lang="en-US" sz="11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22776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120640" y="3922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 acceptability &amp; repeatability</a:t>
            </a:r>
            <a:endParaRPr lang="en-US" sz="11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32511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20640" y="4325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grading system</a:t>
            </a:r>
            <a:endParaRPr lang="en-US" sz="11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727448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20640" y="4727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reporting standards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Quality Assurance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88920" cy="5943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886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26782 Compliance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Max permissible error: ±2.5%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1480" y="2048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Flow range: 0–14 L/s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25237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Volume range: ≥8 L (BTPS)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Sampling rate: &gt;100 Hz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 resolution: 12 bits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Resistance: &lt;1.5 cmH₂O·L⁻¹·s⁻¹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18688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2"/>
          <p:cNvSpPr/>
          <p:nvPr/>
        </p:nvSpPr>
        <p:spPr>
          <a:xfrm>
            <a:off x="3218688" y="868680"/>
            <a:ext cx="2788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9144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13048" y="886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QA Checklist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55848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3-L syringe calibration verification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55848" y="2048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Flow range: 0.5 – 12 L/s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55848" y="25237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Accuracy tolerance: ±3%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55848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Zero-flow baseline set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355848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Filter used in test = filter in cal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355848" y="3950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 all cal results &amp; failures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63056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63056" y="868680"/>
            <a:ext cx="2788920" cy="594360"/>
          </a:xfrm>
          <a:prstGeom prst="rect">
            <a:avLst/>
          </a:prstGeom>
          <a:solidFill>
            <a:srgbClr val="0089A7"/>
          </a:solidFill>
          <a:ln w="12700">
            <a:solidFill>
              <a:srgbClr val="0089A7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91440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57416" y="886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BTPS Correction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300216" y="15727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results at BTPS conditions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300216" y="20482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Temperature accuracy: ±1°C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300216" y="25237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 volume spirometers: measure internal temp per breath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300216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Error up to 6% if ambient temp assumed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300216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Alert if rapid changes &gt;3°C in 30 min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274320" y="4617720"/>
            <a:ext cx="8677656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663440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5800" y="4636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 syringe accuracy: ±0.015 L or ±0.5% of full scale  |  Monthly leak test required  |  Dropped/damaged syringe = out of calibration until verified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/ FEV₁ Maneuver — Four Phases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6012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Inspiration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51460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full inspiration to TLC. Pause at TLC &lt;2 s. Slow or prolonged pause reduces PEF and FEV₁.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297680"/>
            <a:ext cx="1828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FIVC recorded here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6868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96012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42032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"Blast" of Expiration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51460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maximal forced expiratory effort. BEV must be &lt;5% of FVC or 0.100 L. Rise time 10→90% PEF: &lt;150 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42032" y="4297680"/>
            <a:ext cx="1828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Back-extrapolation → Time 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86868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96012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18304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Full Expiration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51460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effort up to 15 s. EOFE plateau: &lt;0.025 L change in 1 s. System beeps: 1 beep = plateau, 2 beeps = 15 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18304" y="4297680"/>
            <a:ext cx="1828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FVC, FEV₁, FEF₂₅₋₇₅ measured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3136" y="868680"/>
            <a:ext cx="201168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43216" y="96012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94576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Inspiration (Post)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12864" y="251460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return to TLC after EOFE. Provides FIVC — used to confirm starting volume. FIVC − FVC &gt; 0.100 L → invalid.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94576" y="4297680"/>
            <a:ext cx="1828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Flow-volume loop 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2377440"/>
            <a:ext cx="164592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2377440"/>
            <a:ext cx="164592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38544" y="2377440"/>
            <a:ext cx="164592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Within-Maneuver Acceptability Criteria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4747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47472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49040" y="822960"/>
            <a:ext cx="12801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Accept.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822960"/>
            <a:ext cx="12801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Accept.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822960"/>
            <a:ext cx="12801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Usable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822960"/>
            <a:ext cx="12801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822960"/>
            <a:ext cx="128016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Usable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225296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25296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&lt; 5% of FVC or 0.100 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49040" y="12252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2252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2252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12252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1609344"/>
            <a:ext cx="347472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609344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faulty zero-flow setting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49040" y="1609344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609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1609344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609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1609344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609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1609344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16093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1993392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1993392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cough in first 1 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49040" y="19933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0" y="19933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19933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589520" y="19933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19933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74320" y="2377440"/>
            <a:ext cx="347472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377440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glottic closure in first 1 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49040" y="2377440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29200" y="2377440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309360" y="2377440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589520" y="2377440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74320" y="2761488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2761488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glottic closure after 1 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749040" y="27614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4904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029200" y="27614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309360" y="27614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589520" y="276148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74320" y="3145536"/>
            <a:ext cx="347472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145536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EOFE plateau &lt;0.025 L in 1 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749040" y="3145536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29200" y="3145536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309360" y="3145536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589520" y="3145536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31455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274320" y="3529584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3529584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obstructed mouthpiece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749040" y="35295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0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029200" y="35295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0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6309360" y="35295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7589520" y="352958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0" y="3529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274320" y="3913632"/>
            <a:ext cx="347472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3913632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3749040" y="3913632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49040" y="39136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5029200" y="3913632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29200" y="39136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6309360" y="3913632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09360" y="39136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7589520" y="3913632"/>
            <a:ext cx="128016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89520" y="39136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274320" y="4297680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" y="4297680"/>
            <a:ext cx="347472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FIVC − FVC &lt; 0.100 L or 5% FVC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3749040" y="42976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4904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5029200" y="42976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6309360" y="42976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0936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7589520" y="429768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589520" y="4297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= Back-Extrapolated Volume  |  EOFE = End of Forced Expiration  |  FIVC = Forced Inspiratory Vital Capacity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EOFE Criteria &amp; Between-Maneuver Repeatability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EOFE Acceptability (any one of 3):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9844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&lt;0.025 L change for ≥1 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beep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3840480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871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" y="2514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limit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 ≥ 15 seconds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Double beep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3840480" cy="1005840"/>
          </a:xfrm>
          <a:prstGeom prst="rect">
            <a:avLst/>
          </a:prstGeom>
          <a:solidFill>
            <a:srgbClr val="0089A7"/>
          </a:solidFill>
          <a:ln w="12700">
            <a:solidFill>
              <a:srgbClr val="0089A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67588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Restrictive pattern</a:t>
            </a:r>
            <a:endParaRPr lang="en-US" sz="1150" dirty="0"/>
          </a:p>
          <a:p>
            <a:pPr marL="0" indent="0" algn="just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≥ prior FVC or within repeatability tolerance</a:t>
            </a:r>
            <a:endParaRPr lang="en-US" sz="1150" dirty="0"/>
          </a:p>
          <a:p>
            <a:pPr marL="0" indent="0" algn="just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children, restrictive disease)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71010" y="822960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8640" y="822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Between-Maneuver Repeatability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33240" y="1261872"/>
            <a:ext cx="228600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324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19240" y="1261872"/>
            <a:ext cx="96012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9240" y="126187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 6 yr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79360" y="1261872"/>
            <a:ext cx="1554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9360" y="126187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≤ 6 yr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33240" y="1673352"/>
            <a:ext cx="228600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3240" y="167335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 diff (2 largest)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19240" y="1673352"/>
            <a:ext cx="96012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9240" y="167335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0.150 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79360" y="1673352"/>
            <a:ext cx="1554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9360" y="167335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0.100 L or 10%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33240" y="2084832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3240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diff (2 largest)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19240" y="2084832"/>
            <a:ext cx="960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9240" y="208483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0.150 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79360" y="2084832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9360" y="208483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0.100 L or 10%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33240" y="2496312"/>
            <a:ext cx="228600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3240" y="249631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acceptable maneuvers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19240" y="2496312"/>
            <a:ext cx="96012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9240" y="249631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79360" y="2496312"/>
            <a:ext cx="155448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9360" y="249631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33240" y="2907792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3240" y="2907792"/>
            <a:ext cx="228600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maneuvers (adults)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19240" y="2907792"/>
            <a:ext cx="960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9240" y="2907792"/>
            <a:ext cx="960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79360" y="2907792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9360" y="2907792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 possible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82490" y="3383280"/>
            <a:ext cx="420624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930" y="3493008"/>
            <a:ext cx="292608" cy="29260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5139690" y="34290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threshold: </a:t>
            </a: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FEV₁ from acceptable maneuver drops below 80% of start value, terminate testing.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682490" y="4407408"/>
            <a:ext cx="420624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930" y="4507992"/>
            <a:ext cx="256032" cy="256032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139690" y="4462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≥3 acceptable FEV₁ AND ≥3 acceptable FVC (may come from different maneuvers)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Grading System (ATS 2019)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Or 10% of highest value, whichever is greater — applies for age ≤ 6 years only.  Graded separately for FEV₁ and FVC, and separately for pre- and post-bronchodilator sets.</a:t>
            </a:r>
            <a:endParaRPr lang="en-US" sz="90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3485E1A-4B7F-F8D8-589A-17B228EC2B93}"/>
              </a:ext>
            </a:extLst>
          </p:cNvPr>
          <p:cNvGrpSpPr/>
          <p:nvPr/>
        </p:nvGrpSpPr>
        <p:grpSpPr>
          <a:xfrm>
            <a:off x="274320" y="797560"/>
            <a:ext cx="8595360" cy="3664712"/>
            <a:chOff x="274320" y="797560"/>
            <a:chExt cx="8595360" cy="3664712"/>
          </a:xfrm>
        </p:grpSpPr>
        <p:sp>
          <p:nvSpPr>
            <p:cNvPr id="4" name="Shape 2"/>
            <p:cNvSpPr/>
            <p:nvPr/>
          </p:nvSpPr>
          <p:spPr>
            <a:xfrm>
              <a:off x="274320" y="803910"/>
              <a:ext cx="640080" cy="36576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74320" y="803910"/>
              <a:ext cx="640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Grade</a:t>
              </a:r>
              <a:endParaRPr lang="en-US" sz="11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914400" y="803910"/>
              <a:ext cx="2286000" cy="36576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914400" y="80391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# Maneuvers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00400" y="803910"/>
              <a:ext cx="2560320" cy="36576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200400" y="79756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Repeatability (&gt;6 yr)</a:t>
              </a:r>
              <a:endParaRPr lang="en-US" sz="11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760720" y="803616"/>
              <a:ext cx="2560320" cy="36576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760720" y="822960"/>
              <a:ext cx="2560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Repeatability (≤6 yr)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74320" y="1169670"/>
              <a:ext cx="640080" cy="457200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274320" y="116967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18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914400" y="1169670"/>
              <a:ext cx="22860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914400" y="1169670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≥3 acceptable</a:t>
              </a:r>
              <a:endParaRPr lang="en-US" sz="10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0" y="1169670"/>
              <a:ext cx="256032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200400" y="11633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0.150 L</a:t>
              </a:r>
              <a:endParaRPr lang="en-US" sz="10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760720" y="1170552"/>
              <a:ext cx="256032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760720" y="11887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0.100 L*</a:t>
              </a:r>
              <a:endParaRPr lang="en-US" sz="10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74320" y="1626870"/>
              <a:ext cx="640080" cy="457200"/>
            </a:xfrm>
            <a:prstGeom prst="rect">
              <a:avLst/>
            </a:prstGeom>
            <a:solidFill>
              <a:srgbClr val="EFF6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274320" y="162687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E40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1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914400" y="1626870"/>
              <a:ext cx="228600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914400" y="1626870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acceptable</a:t>
              </a:r>
              <a:endParaRPr lang="en-US" sz="10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00400" y="1626870"/>
              <a:ext cx="256032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200400" y="16205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0.150 L</a:t>
              </a:r>
              <a:endParaRPr lang="en-US" sz="10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760720" y="1633808"/>
              <a:ext cx="256032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760720" y="16459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0.100 L*</a:t>
              </a:r>
              <a:endParaRPr lang="en-US" sz="10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74320" y="2084070"/>
              <a:ext cx="640080" cy="457200"/>
            </a:xfrm>
            <a:prstGeom prst="rect">
              <a:avLst/>
            </a:prstGeom>
            <a:solidFill>
              <a:srgbClr val="FFFBEB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274320" y="208407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914400" y="2084070"/>
              <a:ext cx="22860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914400" y="2084070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≥2 acceptable</a:t>
              </a:r>
              <a:endParaRPr lang="en-US" sz="10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200400" y="2084070"/>
              <a:ext cx="256032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200400" y="20777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0.200 L</a:t>
              </a:r>
              <a:endParaRPr lang="en-US" sz="10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760720" y="2091008"/>
              <a:ext cx="256032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760720" y="21031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0.150 L*</a:t>
              </a:r>
              <a:endParaRPr lang="en-US" sz="10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274320" y="2541270"/>
              <a:ext cx="640080" cy="457200"/>
            </a:xfrm>
            <a:prstGeom prst="rect">
              <a:avLst/>
            </a:prstGeom>
            <a:solidFill>
              <a:srgbClr val="FFF7ED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274320" y="254127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7C2D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</a:t>
              </a:r>
              <a:endParaRPr lang="en-US" sz="18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914400" y="2541270"/>
              <a:ext cx="228600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914400" y="2541270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≥2 acceptable</a:t>
              </a:r>
              <a:endParaRPr lang="en-US" sz="10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200400" y="2541270"/>
              <a:ext cx="256032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3200400" y="25349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0.250 L</a:t>
              </a:r>
              <a:endParaRPr lang="en-US" sz="10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760720" y="2548208"/>
              <a:ext cx="256032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5760720" y="25603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0.200 L*</a:t>
              </a:r>
              <a:endParaRPr lang="en-US" sz="10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274320" y="2998470"/>
              <a:ext cx="640080" cy="457200"/>
            </a:xfrm>
            <a:prstGeom prst="rect">
              <a:avLst/>
            </a:prstGeom>
            <a:solidFill>
              <a:srgbClr val="FEF2F2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274320" y="299847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7F1D1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</a:t>
              </a:r>
              <a:endParaRPr lang="en-US" sz="18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914400" y="2998470"/>
              <a:ext cx="22860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914400" y="2998470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≥2 acceptable</a:t>
              </a:r>
              <a:endParaRPr lang="en-US" sz="10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200400" y="2998470"/>
              <a:ext cx="256032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3200400" y="29921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&gt; 0.250 L or 1 accept.</a:t>
              </a:r>
              <a:endParaRPr lang="en-US" sz="105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760720" y="3005408"/>
              <a:ext cx="256032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5760720" y="30175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&gt; 0.200 L*</a:t>
              </a:r>
              <a:endParaRPr lang="en-US" sz="105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274320" y="3455670"/>
              <a:ext cx="640080" cy="457200"/>
            </a:xfrm>
            <a:prstGeom prst="rect">
              <a:avLst/>
            </a:prstGeom>
            <a:solidFill>
              <a:srgbClr val="F9FAFB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274320" y="345567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4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</a:t>
              </a:r>
              <a:endParaRPr lang="en-US" sz="18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914400" y="3455670"/>
              <a:ext cx="228600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914400" y="3455670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 acceptable, ≥1 usable</a:t>
              </a:r>
              <a:endParaRPr lang="en-US" sz="10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3200400" y="3455670"/>
              <a:ext cx="256032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3200400" y="34493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N/A</a:t>
              </a:r>
              <a:endParaRPr lang="en-US" sz="10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5760720" y="3462608"/>
              <a:ext cx="2560320" cy="45720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5760720" y="34747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N/A</a:t>
              </a:r>
              <a:endParaRPr lang="en-US" sz="105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274320" y="3912870"/>
              <a:ext cx="640080" cy="457200"/>
            </a:xfrm>
            <a:prstGeom prst="rect">
              <a:avLst/>
            </a:prstGeom>
            <a:solidFill>
              <a:srgbClr val="F3F4F6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274320" y="391287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</a:t>
              </a:r>
              <a:endParaRPr lang="en-US" sz="18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914400" y="3912870"/>
              <a:ext cx="22860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914400" y="3912870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 acceptable, 0 usable</a:t>
              </a:r>
              <a:endParaRPr lang="en-US" sz="105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3200400" y="3912870"/>
              <a:ext cx="256032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5" name="Text 63"/>
            <p:cNvSpPr/>
            <p:nvPr/>
          </p:nvSpPr>
          <p:spPr>
            <a:xfrm>
              <a:off x="3200400" y="39065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N/A</a:t>
              </a:r>
              <a:endParaRPr lang="en-US" sz="105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760720" y="3919808"/>
              <a:ext cx="256032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67" name="Text 65"/>
            <p:cNvSpPr/>
            <p:nvPr/>
          </p:nvSpPr>
          <p:spPr>
            <a:xfrm>
              <a:off x="5760720" y="393192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N/A</a:t>
              </a:r>
              <a:endParaRPr lang="en-US" sz="105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6309360" y="804672"/>
              <a:ext cx="2560320" cy="365760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6355080" y="868680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0C2C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Points</a:t>
              </a:r>
              <a:endParaRPr lang="en-US" sz="13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6355080" y="1298448"/>
              <a:ext cx="2423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Grade A = highest confidence result is patient's true best</a:t>
              </a:r>
              <a:endParaRPr lang="en-US" sz="10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6355080" y="1920240"/>
              <a:ext cx="2423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Grade U = usable but not acceptable</a:t>
              </a:r>
              <a:endParaRPr lang="en-US" sz="10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6355080" y="2542032"/>
              <a:ext cx="2423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Grades &lt; A are still clinically informative</a:t>
              </a:r>
              <a:endParaRPr lang="en-US" sz="10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6355080" y="3163824"/>
              <a:ext cx="2423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Grading informs interpreter confidence, not lung health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6355080" y="3785616"/>
              <a:ext cx="2423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Goal is always best quality per patient session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0360" y="1193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Bronchodilator Responsiveness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00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66140"/>
            <a:ext cx="114300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935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2776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2103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acceptable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&amp; FVC pre-BD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63040" y="1460500"/>
            <a:ext cx="914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866140"/>
            <a:ext cx="114300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8935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2776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22103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Dose/route 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protocol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97480" y="1460500"/>
            <a:ext cx="914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866140"/>
            <a:ext cx="114300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88920" y="8935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88920" y="12776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88920" y="22103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31920" y="1460500"/>
            <a:ext cx="9144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866140"/>
            <a:ext cx="1143000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8935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23360" y="12776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Spirometry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2103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acceptable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 &amp; FVC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63525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Bronchodilator Withholding Times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036062"/>
            <a:ext cx="13716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3606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Class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37360" y="3036062"/>
            <a:ext cx="2286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3036062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23360" y="3036062"/>
            <a:ext cx="109728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3036062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38353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383534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737360" y="338353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3383534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Albuterol / Salbutamol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23360" y="338353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383534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731006"/>
            <a:ext cx="13716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731006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737360" y="3731006"/>
            <a:ext cx="22860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3731006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Ipratropium bromide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23360" y="3731006"/>
            <a:ext cx="10972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3731006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07847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078478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737360" y="407847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37360" y="4078478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Formoterol / Salmeterol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23360" y="407847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4078478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425950"/>
            <a:ext cx="13716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425950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Ultra-LABA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737360" y="4425950"/>
            <a:ext cx="22860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37360" y="4425950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Indacaterol, Vilanterol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023360" y="4425950"/>
            <a:ext cx="10972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0" y="4425950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477977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77977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737360" y="477977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4779772"/>
            <a:ext cx="2286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Tiotropium, Umeclidinium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023360" y="47797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0" y="4779772"/>
            <a:ext cx="10972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36–48 h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303520" y="4800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Values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303520" y="859790"/>
            <a:ext cx="35661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9240" y="95554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49240" y="9555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FVC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355080" y="9555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(2 decimal places, BTPS)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349240" y="1376172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49240" y="13761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355080" y="13761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(2 decimal places, BTPS)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49240" y="1796796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49240" y="17967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FEV₁/FVC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355080" y="17967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fraction to 0.01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349240" y="2217420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49240" y="22174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355080" y="22174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349240" y="2638044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49240" y="26380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355080" y="26380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349240" y="305866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49240" y="30586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FIVC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355080" y="30586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inspiratory VC post-EOFE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349240" y="3479292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49240" y="34792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FEV₁ / FVC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355080" y="34792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+ % change vs. pre-BD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349240" y="3899916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49240" y="38999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FEF₂₅₋₇₅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355080" y="38999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maneuver: largest FEV₁+FVC sum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Design — ATS/ERS Requirements for Developers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4069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0525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886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Acquisition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5270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Sampling rate &gt; 100 Hz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 ADC resolution: 12 bits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2532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Flow range: 0 – 14 L/s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Volume: 0.5 – 8 L (BTPS)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3538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Back-extrapolation for Time 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BEV detection &amp; flagging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18688" y="868680"/>
            <a:ext cx="2788920" cy="4069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868680"/>
            <a:ext cx="278892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05256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67328" y="886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55848" y="15270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Simultaneous flow-volume &amp; volume-time display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55848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PEF rise time detection (&lt;150 ms threshold)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55848" y="2532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Plateau detection: &lt;0.025 L in 1 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55848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EOFE audio alerts (1 beep/2 beep)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55848" y="3538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FET timer with 15 s hard stop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55848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BTPS compensation per breath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63056" y="868680"/>
            <a:ext cx="2788920" cy="4069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63056" y="868680"/>
            <a:ext cx="2788920" cy="548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905256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11696" y="886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Reporting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300216" y="15270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Automated acceptability feedback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300216" y="20299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Grade A–F + U flagging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300216" y="2532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Calibration log generation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300216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±2 SD alert on cal factor drift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300216" y="3538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Zero-flow verification before each test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300216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Operator override capability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274320" y="4592320"/>
            <a:ext cx="8677656" cy="347472"/>
          </a:xfrm>
          <a:prstGeom prst="rect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MSP430FR6043 context: USS SW Library computes AbsTOF_UPS/DNS → VFR at 400 Hz → all 6 requirements above directly map to firmware pipeline design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618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138988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26782 compliance; ±2.5% max error; &gt;100 Hz sampling; daily 3-L syringe cal verification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26187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49240" y="138988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FVC; BEV &lt;0.100 L; EOFE plateau &lt;0.025 L in 1 s; back-extrapolation for Time 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24028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58775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Acceptability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0120" y="271576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within-maneuver criteria; min 3 acceptable for each of FEV₁ &amp; FVC; ≤8 adult attempts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224028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58775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A–F, U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49240" y="271576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highest confidence; repeatability tolerances tighten for younger patients; graded per set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356616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91363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Testing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60120" y="404164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&amp; post BD spirometry; agent-specific withholding (4 h – 48 h); report absolute &amp; % Δ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3566160"/>
            <a:ext cx="411480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91363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Design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349240" y="404164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 Hz ADC, real-time BTPS, plateau detection, dual-display, automated operator feedback required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ATS/ERS 2019 — Miller et al., Eur Respir J 2005; Graham et al., Am J Respir Crit Care Med 2019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1541</Words>
  <Application>Microsoft Office PowerPoint</Application>
  <PresentationFormat>On-screen Show (16:9)</PresentationFormat>
  <Paragraphs>312</Paragraphs>
  <Slides>12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Standardization of Spirometry — ATS/ERS 2019</dc:title>
  <dc:subject>PptxGenJS Presentation</dc:subject>
  <dc:creator>Sasanka Barman</dc:creator>
  <cp:lastModifiedBy>Sasanka Barman</cp:lastModifiedBy>
  <cp:revision>21</cp:revision>
  <dcterms:created xsi:type="dcterms:W3CDTF">2026-03-16T08:49:44Z</dcterms:created>
  <dcterms:modified xsi:type="dcterms:W3CDTF">2026-04-10T07:05:00Z</dcterms:modified>
</cp:coreProperties>
</file>