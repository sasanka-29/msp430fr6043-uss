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anka Barman" initials="SB" lastIdx="1" clrIdx="0">
    <p:extLst>
      <p:ext uri="{19B8F6BF-5375-455C-9EA6-DF929625EA0E}">
        <p15:presenceInfo xmlns:p15="http://schemas.microsoft.com/office/powerpoint/2012/main" userId="08b769e5355105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81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of Spirometry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2019 Update — Key Technical Standards &amp; Clinical Implications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06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Sasanka Barman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Spirometer / Ultrasonic Flow Measurement System — MSP430FR6043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Technical Statement  •  Am J Respir Crit Care Med 200:e70–e88 (2019)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&amp;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5727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Equipment &amp; QA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0482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FVC/FEV₁ Maneuver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5237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Acceptability Criteria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9992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 Parameters Reported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34747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Grading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" y="3950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Bronchodilator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44256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Device Design Implications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457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54864" cy="3200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0584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 is the most common pulmonary function test.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reproducible measurements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critical for diagnosis, monitoring, and device development.
The 2019 ATS/ERS update revised every major criterion </a:t>
            </a: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maneuver acceptability to equipment accuracy to grading systems —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impacting both clinical labs and embedded firmware developers.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Update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12064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Studies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1,760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04088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Surveyed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physiological test measuring the maximal volume of air an individual can inspire and expire with maximal effort. The primary signal is either </a:t>
            </a: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or flow as a function of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Variables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Vital Capacity — volume expelled from full inspiration with maximal effort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27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Expiratory Volume in 1 second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570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FEV₁/FVC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5570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indicating airflow obstruction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867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Expiratory Flow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416552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16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FEF₂₅₋₇₅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4416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flow in mid-expiratory phase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Scope</a:t>
            </a:r>
            <a:endParaRPr lang="en-US" sz="15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15768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2064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&amp; terminology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1810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2064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specifications (ISO 26782)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20440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2064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preparation &amp; contraindications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22776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20640" y="3922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 acceptability &amp; repeatability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2511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20640" y="4325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grading system</a:t>
            </a:r>
            <a:endParaRPr lang="en-US" sz="11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727448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20640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reporting standards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Quality Assurance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886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26782 Compliance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Max permissible error: ±2.5%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2048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range: 0–14 L/s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Volume range: ≥8 L (BTPS)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Sampling rate: &gt;100 Hz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 resolution: 12 bits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Resistance: &lt;1.5 cmH₂O·L⁻¹·s⁻¹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18688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3218688" y="868680"/>
            <a:ext cx="2788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9144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13048" y="886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QA Checklist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55848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3-L syringe calibration verification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55848" y="2048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range: 0.5 – 12 L/s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55848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Accuracy tolerance: ±3%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55848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Zero-flow baseline set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355848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Filter used in test = filter in cal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355848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all cal results &amp; failures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63056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63056" y="868680"/>
            <a:ext cx="2788920" cy="594360"/>
          </a:xfrm>
          <a:prstGeom prst="rect">
            <a:avLst/>
          </a:prstGeom>
          <a:solidFill>
            <a:srgbClr val="0089A7"/>
          </a:solidFill>
          <a:ln w="12700">
            <a:solidFill>
              <a:srgbClr val="0089A7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91440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57416" y="886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BTPS Correction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0216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results at BTPS conditions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300216" y="2048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 accuracy: ±1°C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00216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 volume spirometers: measure internal temp per breath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00216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Error up to 6% if ambient temp assumed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300216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 if rapid changes &gt;3°C in 30 min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663440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580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 syringe accuracy: ±0.015 L or ±0.5% of full scale  |  Monthly leak test required  |  Dropped/damaged syringe = out of calibration until verified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/ FEV₁ Maneuver — Four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Inspiration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full inspiration to TLC. Pause at TLC &lt;2 s. Slow or prolonged pause reduces PEF and FEV₁.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FIVC recorded here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"Blast" of Expiration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maximal forced expiratory effort. BEV must be &lt;5% of FVC or 0.100 L. Rise time 10→90% PEF: &lt;150 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42032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Back-extrapolation → Time 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18304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Full Expiration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effort up to 15 s. EOFE plateau: &lt;0.025 L change in 1 s. System beeps: 1 beep = plateau, 2 beeps = 15 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18304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FVC, FEV₁, FEF₂₅₋₇₅ measured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3216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94576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Inspiration (Post)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12864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return to TLC after EOFE. Provides FIVC — used to confirm starting volume. FIVC − FVC &gt; 0.100 L → invalid.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94576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Flow-volume loop 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2377440"/>
            <a:ext cx="164592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2377440"/>
            <a:ext cx="164592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38544" y="2377440"/>
            <a:ext cx="164592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Within-Maneuver Acceptability Criteria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4747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47472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Accept.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Accept.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Usable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Usable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225296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25296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&lt; 5% of FVC or 0.100 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1609344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609344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faulty zero-flow setting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4904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1993392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1993392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cough in first 1 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4904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8952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4320" y="2377440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377440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glottic closure in first 1 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4904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30936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58952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74320" y="2761488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761488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glottic closure after 1 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74904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02920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30936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58952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4320" y="3145536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145536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EOFE plateau &lt;0.025 L in 1 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74904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30936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58952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74320" y="3529584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529584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obstructed mouthpiece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74904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02920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630936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758952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274320" y="3913632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3913632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74904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4904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502920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2920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630936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758952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8952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274320" y="4297680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FIVC − FVC &lt; 0.100 L or 5% FVC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74904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4904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502920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630936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936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758952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58952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= Back-Extrapolated Volume  |  EOFE = End of Forced Expiration  |  FIVC = Forced Inspiratory Vital Capacity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EOFE Criteria &amp; Between-Maneuver Repeatability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EOFE Acceptability (any one of 3):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9844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&lt;0.025 L change for ≥1 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beep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3840480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871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 ≥ 15 seconds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Double beep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3840480" cy="1005840"/>
          </a:xfrm>
          <a:prstGeom prst="rect">
            <a:avLst/>
          </a:prstGeom>
          <a:solidFill>
            <a:srgbClr val="0089A7"/>
          </a:solidFill>
          <a:ln w="12700">
            <a:solidFill>
              <a:srgbClr val="0089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67588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pattern</a:t>
            </a:r>
            <a:endParaRPr lang="en-US" sz="1150" dirty="0"/>
          </a:p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≥ prior FVC or within repeatability tolerance</a:t>
            </a:r>
            <a:endParaRPr lang="en-US" sz="1150" dirty="0"/>
          </a:p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children, restrictive disease)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71010" y="82296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86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Between-Maneuver Repeatability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3240" y="1261872"/>
            <a:ext cx="22860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32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9240" y="1261872"/>
            <a:ext cx="96012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9240" y="126187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6 yr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79360" y="1261872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9360" y="126187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 6 yr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33240" y="1673352"/>
            <a:ext cx="228600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3240" y="167335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diff (2 largest)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19240" y="1673352"/>
            <a:ext cx="96012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9240" y="167335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79360" y="1673352"/>
            <a:ext cx="1554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9360" y="167335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0.100 L or 10%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33240" y="2084832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324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diff (2 largest)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19240" y="208483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9240" y="208483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79360" y="2084832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9360" y="208483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0.100 L or 10%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33240" y="2496312"/>
            <a:ext cx="228600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3240" y="249631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acceptable maneuvers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19240" y="2496312"/>
            <a:ext cx="96012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9240" y="249631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79360" y="2496312"/>
            <a:ext cx="1554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9360" y="249631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33240" y="2907792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3240" y="290779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maneuvers (adults)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19240" y="290779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9240" y="290779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79360" y="2907792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9360" y="290779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 possible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82490" y="3383280"/>
            <a:ext cx="420624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930" y="3493008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5139690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threshold: </a:t>
            </a: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FEV₁ from acceptable maneuver drops below 80% of start value, terminate testing.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82490" y="4407408"/>
            <a:ext cx="420624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930" y="4507992"/>
            <a:ext cx="256032" cy="25603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139690" y="4462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≥3 acceptable FEV₁ AND ≥3 acceptable FVC (may come from different maneuvers)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Grading System (ATS 2019)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3910"/>
            <a:ext cx="6400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391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803910"/>
            <a:ext cx="22860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0391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Maneuvers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03910"/>
            <a:ext cx="25603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79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(&gt;6 yr)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797560"/>
            <a:ext cx="25603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(≤6 yr)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169670"/>
            <a:ext cx="64008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1696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116967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1696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acceptable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16967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1633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1887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0.100 L*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626870"/>
            <a:ext cx="64008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6268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1626870"/>
            <a:ext cx="22860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6268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acceptable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626870"/>
            <a:ext cx="25603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6205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645920"/>
            <a:ext cx="25603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0.100 L*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084070"/>
            <a:ext cx="64008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0840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208407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20840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acceptable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08407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0777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0.200 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21031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541270"/>
            <a:ext cx="64008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5412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2541270"/>
            <a:ext cx="22860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25412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acceptable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0" y="2541270"/>
            <a:ext cx="25603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25349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0.250 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60720" y="2560320"/>
            <a:ext cx="25603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0.200 L*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2998470"/>
            <a:ext cx="64008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9984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299847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29984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acceptable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0" y="299847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29921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0.250 L or 1 accept.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760720" y="30175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0.200 L*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455670"/>
            <a:ext cx="64008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4556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14400" y="3455670"/>
            <a:ext cx="22860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34556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acceptable, ≥1 usable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0" y="3455670"/>
            <a:ext cx="25603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34493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760720" y="3474720"/>
            <a:ext cx="25603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3912870"/>
            <a:ext cx="6400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912870"/>
            <a:ext cx="640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14400" y="391287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3912870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acceptable, 0 usable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200400" y="391287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0" y="39065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760720" y="39319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Or 10% of highest value, whichever is greater — applies for age ≤ 6 years only.  Graded separately for FEV₁ and FVC, and separately for pre- and post-bronchodilator sets.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09360" y="804672"/>
            <a:ext cx="256032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55080" y="868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355080" y="12984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Grade A = highest confidence result is patient's true best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35508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Grade U = usable but not acceptable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355080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Grades &lt; A are still clinically informative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355080" y="31638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Grading informs interpreter confidence, not lung health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355080" y="37856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 is always best quality per patient session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0360" y="1193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Bronchodilator Responsiveness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00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acceptable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&amp; FVC pre-BD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0" y="1460500"/>
            <a:ext cx="914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Dose/route 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protocol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97480" y="1460500"/>
            <a:ext cx="914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892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31920" y="1460500"/>
            <a:ext cx="914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acceptable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&amp; FVC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63525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Bronchodilator Withholding Times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036062"/>
            <a:ext cx="13716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3606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37360" y="3036062"/>
            <a:ext cx="2286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036062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0" y="3036062"/>
            <a:ext cx="109728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3036062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38353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83534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737360" y="338353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3383534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Albuterol / Salbutamol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23360" y="338353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383534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731006"/>
            <a:ext cx="13716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731006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737360" y="3731006"/>
            <a:ext cx="22860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3731006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Ipratropium bromide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23360" y="3731006"/>
            <a:ext cx="10972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3731006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07847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78478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737360" y="407847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37360" y="4078478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Formoterol / Salmeterol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23360" y="407847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4078478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425950"/>
            <a:ext cx="13716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425950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Ultra-LABA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737360" y="4425950"/>
            <a:ext cx="22860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37360" y="4425950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Indacaterol, Vilanterol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023360" y="4425950"/>
            <a:ext cx="10972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4425950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77977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7977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737360" y="47797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779772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Tiotropium, Umeclidinium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023360" y="47797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0" y="4779772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36–48 h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303520" y="4800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Values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303520" y="859790"/>
            <a:ext cx="35661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9240" y="95554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9240" y="9555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355080" y="9555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(2 decimal places, BTPS)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349240" y="1376172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49240" y="13761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355080" y="13761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(2 decimal places, BTPS)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49240" y="1796796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49240" y="17967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FEV₁/FVC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355080" y="17967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fraction to 0.01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349240" y="2217420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9240" y="22174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355080" y="22174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349240" y="2638044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49240" y="26380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355080" y="26380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349240" y="305866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49240" y="30586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FIVC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355080" y="30586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inspiratory VC post-EOFE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49240" y="3479292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49240" y="34792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FEV₁ / FVC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355080" y="34792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+ % change vs. pre-BD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349240" y="3899916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38999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FEF₂₅₋₇₅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355080" y="38999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maneuver: largest FEV₁+FVC sum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Design — ATS/ERS Requirements for Developers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0525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86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Acquisition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27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Sampling rate &gt; 100 Hz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 ADC resolution: 12 bits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532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range: 0 – 14 L/s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Volume: 0.5 – 8 L (BTPS)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538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Back-extrapolation for Time 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BEV detection &amp; flagging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8688" y="868680"/>
            <a:ext cx="2788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868680"/>
            <a:ext cx="278892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05256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67328" y="886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55848" y="1527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Simultaneous flow-volume &amp; volume-time display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55848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PEF rise time detection (&lt;150 ms threshold)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55848" y="2532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Plateau detection: &lt;0.025 L in 1 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55848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EOFE audio alerts (1 beep/2 beep)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55848" y="3538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FET timer with 15 s hard stop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55848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BTPS compensation per breath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63056" y="868680"/>
            <a:ext cx="2788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63056" y="868680"/>
            <a:ext cx="278892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905256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11696" y="886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Reporting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0216" y="1527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acceptability feedback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300216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Grade A–F + U flagging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00216" y="2532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Calibration log generation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300216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±2 SD alert on cal factor drift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00216" y="3538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Zero-flow verification before each test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00216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Operator override capability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274320" y="4592320"/>
            <a:ext cx="8677656" cy="347472"/>
          </a:xfrm>
          <a:prstGeom prst="rect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MSP430FR6043 context: USS SW Library computes AbsTOF_UPS/DNS → VFR at 400 Hz → all 6 requirements above directly map to firmware pipeline design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618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38988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26782 compliance; ±2.5% max error; &gt;100 Hz sampling; daily 3-L syringe cal verification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618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49240" y="138988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FVC; BEV &lt;0.100 L; EOFE plateau &lt;0.025 L in 1 s; back-extrapolation for Time 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24028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5877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Acceptability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27157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within-maneuver criteria; min 3 acceptable for each of FEV₁ &amp; FVC; ≤8 adult attempts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24028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5877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A–F, U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49240" y="27157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highest confidence; repeatability tolerances tighten for younger patients; graded per set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356616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91363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Testing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60120" y="404164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&amp; post BD spirometry; agent-specific withholding (4 h – 48 h); report absolute &amp; % Δ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91363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Design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49240" y="404164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Hz ADC, real-time BTPS, plateau detection, dual-display, automated operator feedback required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2019 — Miller et al., Eur Respir J 2005; Graham et al., Am J Respir Crit Care Med 2019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1534</Words>
  <Application>Microsoft Office PowerPoint</Application>
  <PresentationFormat>On-screen Show (16:9)</PresentationFormat>
  <Paragraphs>311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Standardization of Spirometry — ATS/ERS 2019</dc:title>
  <dc:subject>PptxGenJS Presentation</dc:subject>
  <dc:creator>Sasanka Barman</dc:creator>
  <cp:lastModifiedBy>Sasanka Barman</cp:lastModifiedBy>
  <cp:revision>15</cp:revision>
  <dcterms:created xsi:type="dcterms:W3CDTF">2026-03-16T08:49:44Z</dcterms:created>
  <dcterms:modified xsi:type="dcterms:W3CDTF">2026-03-28T09:57:47Z</dcterms:modified>
</cp:coreProperties>
</file>